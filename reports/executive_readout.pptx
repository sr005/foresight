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Project FORESIGHT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C9C9EE"/>
                </a:solidFill>
                <a:latin typeface="Calibri"/>
              </a:rPr>
              <a:t>Demand &amp; Inventory Intelligence for NorthBay Living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E9ECF"/>
                </a:solidFill>
                <a:latin typeface="Calibri"/>
              </a:rPr>
              <a:t>Executive readout · Data Science engagement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E9ECF"/>
                </a:solidFill>
                <a:latin typeface="Calibri"/>
              </a:rPr>
              <a:t>Forecast · stock-risk early warning · planning dashboard · scoring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bottom line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9C9EE"/>
                </a:solidFill>
                <a:latin typeface="Calibri"/>
              </a:rPr>
              <a:t>What FORESIGHT found in NorthBay's own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566160" cy="2377440"/>
          </a:xfrm>
          <a:prstGeom prst="rect">
            <a:avLst/>
          </a:prstGeom>
          <a:solidFill>
            <a:srgbClr val="F2F2FA"/>
          </a:solidFill>
          <a:ln w="25400">
            <a:solidFill>
              <a:srgbClr val="6B6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6B6BD6"/>
                </a:solidFill>
                <a:latin typeface="Calibri"/>
              </a:rPr>
              <a:t>Rs 372,519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1F3D"/>
                </a:solidFill>
                <a:latin typeface="Calibri"/>
              </a:rPr>
              <a:t>capital locked in overstock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66"/>
                </a:solidFill>
                <a:latin typeface="Calibri"/>
              </a:rPr>
              <a:t>88 SKUs to clear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3566160" cy="2377440"/>
          </a:xfrm>
          <a:prstGeom prst="rect">
            <a:avLst/>
          </a:prstGeom>
          <a:solidFill>
            <a:srgbClr val="F2F2FA"/>
          </a:solidFill>
          <a:ln w="254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D1495B"/>
                </a:solidFill>
                <a:latin typeface="Calibri"/>
              </a:rPr>
              <a:t>Rs 17,931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1F3D"/>
                </a:solidFill>
                <a:latin typeface="Calibri"/>
              </a:rPr>
              <a:t>sales at risk from stockouts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66"/>
                </a:solidFill>
                <a:latin typeface="Calibri"/>
              </a:rPr>
              <a:t>16 SKUs to reorder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737360"/>
            <a:ext cx="3566160" cy="2377440"/>
          </a:xfrm>
          <a:prstGeom prst="rect">
            <a:avLst/>
          </a:prstGeom>
          <a:solidFill>
            <a:srgbClr val="F2F2FA"/>
          </a:solidFill>
          <a:ln w="25400">
            <a:solidFill>
              <a:srgbClr val="3A96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3A9679"/>
                </a:solidFill>
                <a:latin typeface="Calibri"/>
              </a:rPr>
              <a:t>37%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1F3D"/>
                </a:solidFill>
                <a:latin typeface="Calibri"/>
              </a:rPr>
              <a:t>more accurate than the current guess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66"/>
                </a:solidFill>
                <a:latin typeface="Calibri"/>
              </a:rPr>
              <a:t>forecast beats seasonal-naive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3D"/>
                </a:solidFill>
                <a:latin typeface="Calibri"/>
              </a:rPr>
              <a:t>Recommendation: clear the top overstocked SKUs to free working capital, and raise replenishment on the flagged best-sellers before the peak. Both lists are prioritised by rupees at stake in the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we built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9C9EE"/>
                </a:solidFill>
                <a:latin typeface="Calibri"/>
              </a:rPr>
              <a:t>The four asks in the brief — all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F1F3D"/>
                </a:solidFill>
                <a:latin typeface="Calibri"/>
              </a:rPr>
              <a:t>•  A weekly, SKU-level demand forecast that beats a naive baseline honestly.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F1F3D"/>
                </a:solidFill>
                <a:latin typeface="Calibri"/>
              </a:rPr>
              <a:t>•  A stockout / overstock early-warning that says what to reorder and what to clear.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F1F3D"/>
                </a:solidFill>
                <a:latin typeface="Calibri"/>
              </a:rPr>
              <a:t>•  A rupee figure on every risk, so Finance can prioritise by cash impact.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F1F3D"/>
                </a:solidFill>
                <a:latin typeface="Calibri"/>
              </a:rPr>
              <a:t>•  A dashboard the ops team can use unaided, plus a deployed scoring service.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555566"/>
                </a:solidFill>
                <a:latin typeface="Calibri"/>
              </a:rPr>
              <a:t>All of it re-runs end-to-end from the raw extract with one command — the client can refresh it next month.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data, cleaned and trusted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1F3D"/>
                </a:solidFill>
                <a:latin typeface="Calibri"/>
              </a:rPr>
              <a:t>11,187,647 units across 4,730 SKUs, Dec 2009 – Dec 2011.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3D"/>
                </a:solidFill>
                <a:latin typeface="Calibri"/>
              </a:rPr>
              <a:t>Cleaning removed, with a logged reason for each: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•  19,494 cancellations / returns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•  6,166 non-positive qty or price rows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•  33,666 duplicate lines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•  4,676 non-product codes (postage, fees)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6B6BD6"/>
                </a:solidFill>
                <a:latin typeface="Calibri"/>
              </a:rPr>
              <a:t>94% of rows retained — a clean, auditable base.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55566"/>
                </a:solidFill>
                <a:latin typeface="Calibri"/>
              </a:rPr>
              <a:t>Note: inventory positions are modelled (the raw feed is sales-only); on a live engagement they are replaced by NorthBay's stock table.</a:t>
            </a:r>
          </a:p>
        </p:txBody>
      </p:sp>
      <p:pic>
        <p:nvPicPr>
          <p:cNvPr id="5" name="Picture 4" descr="fig_weekl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539496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the demand data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1F1F3D"/>
                </a:solidFill>
                <a:latin typeface="Calibri"/>
              </a:rPr>
              <a:t>1.  The top 20% of SKUs drive 78% of all units — focus reorder effort here.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F1F3D"/>
                </a:solidFill>
                <a:latin typeface="Calibri"/>
              </a:rPr>
              <a:t>2.  23% of the year's volume lands in Nov–Dec — reorder must lead the peak by the lead time.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F1F3D"/>
                </a:solidFill>
                <a:latin typeface="Calibri"/>
              </a:rPr>
              <a:t>3.  ~12 SKUs sold near-zero in the last 8 weeks — cash sitting in dead stock, ready to clear.</a:t>
            </a:r>
          </a:p>
        </p:txBody>
      </p:sp>
      <p:pic>
        <p:nvPicPr>
          <p:cNvPr id="5" name="Picture 4" descr="fig_top_mo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394960" cy="2751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forecast — and why you can trust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1F3D"/>
                </a:solidFill>
                <a:latin typeface="Calibri"/>
              </a:rPr>
              <a:t>We compare every model against a seasonal-naive baseline on a fair, rolling backtest — the honest test for a forecast.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6B6BD6"/>
                </a:solidFill>
                <a:latin typeface="Calibri"/>
              </a:rPr>
              <a:t>Model error (WAPE):  0.56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555566"/>
                </a:solidFill>
                <a:latin typeface="Calibri"/>
              </a:rPr>
              <a:t>Baseline error (WAPE):  0.89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A9679"/>
                </a:solidFill>
                <a:latin typeface="Calibri"/>
              </a:rPr>
              <a:t>→ 37% more accurate than the baseline.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Lower is better. WAPE = total error ÷ total demand. Validated with rolling-origin backtesting; no future data ever enters a feature.</a:t>
            </a:r>
          </a:p>
        </p:txBody>
      </p:sp>
      <p:pic>
        <p:nvPicPr>
          <p:cNvPr id="5" name="Picture 4" descr="fig_forecast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943600" cy="2509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From forecast to decision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9C9EE"/>
                </a:solidFill>
                <a:latin typeface="Calibri"/>
              </a:rPr>
              <a:t>Every SKU placed on a stockout vs overstock grid</a:t>
            </a:r>
          </a:p>
        </p:txBody>
      </p:sp>
      <p:pic>
        <p:nvPicPr>
          <p:cNvPr id="4" name="Picture 3" descr="fig_decisionin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937760" cy="4630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6459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D1495B"/>
                </a:solidFill>
                <a:latin typeface="Calibri"/>
              </a:rPr>
              <a:t>Reorder now — high stockout risk: replenish before it runs out.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6B6BD6"/>
                </a:solidFill>
                <a:latin typeface="Calibri"/>
              </a:rPr>
              <a:t>Markdown / clear — high overstock: discount to free capital.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3A9679"/>
                </a:solidFill>
                <a:latin typeface="Calibri"/>
              </a:rPr>
              <a:t>Healthy — leave as is.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A41A"/>
                </a:solidFill>
                <a:latin typeface="Calibri"/>
              </a:rPr>
              <a:t>Watch / volatile — erratic; review by hand.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66"/>
                </a:solidFill>
                <a:latin typeface="Calibri"/>
              </a:rPr>
              <a:t>Every SKU carries a recommended action and the rupees at stake, so the team can triage hundreds at a glance instead of reading a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Do this first — prioritised by rupees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1495B"/>
                </a:solidFill>
                <a:latin typeface="Calibri"/>
              </a:rPr>
              <a:t>Reorder now (top 5)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3D"/>
                </a:solidFill>
                <a:latin typeface="Calibri"/>
              </a:rPr>
              <a:t>•  40016 · CHINESE DRAGON PAPER LANTERNS — Rs 3,539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3D"/>
                </a:solidFill>
                <a:latin typeface="Calibri"/>
              </a:rPr>
              <a:t>•  23203 · JUMBO BAG VINTAGE DOILY — Rs 2,840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3D"/>
                </a:solidFill>
                <a:latin typeface="Calibri"/>
              </a:rPr>
              <a:t>•  22149 · FELTCRAFT 6 FLOWER FRIENDS — Rs 2,742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3D"/>
                </a:solidFill>
                <a:latin typeface="Calibri"/>
              </a:rPr>
              <a:t>•  85152 · HAND OVER THE CHOCOLATE   SIGN — Rs 1,913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3D"/>
                </a:solidFill>
                <a:latin typeface="Calibri"/>
              </a:rPr>
              <a:t>•  22866 · HAND WARMER SCOTTY DOG DESIGN — Rs 1,575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B6BD6"/>
                </a:solidFill>
                <a:latin typeface="Calibri"/>
              </a:rPr>
              <a:t>Markdown / clear (top 5)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3D"/>
                </a:solidFill>
                <a:latin typeface="Calibri"/>
              </a:rPr>
              <a:t>•  85099B · JUMBO BAG RED RETROSPOT — Rs 29,036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3D"/>
                </a:solidFill>
                <a:latin typeface="Calibri"/>
              </a:rPr>
              <a:t>•  21137 · BLACK RECORD COVER FRAME — Rs 24,143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3D"/>
                </a:solidFill>
                <a:latin typeface="Calibri"/>
              </a:rPr>
              <a:t>•  22910 · PAPER CHAIN KIT VINTAGE CHRIST — Rs 23,493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3D"/>
                </a:solidFill>
                <a:latin typeface="Calibri"/>
              </a:rPr>
              <a:t>•  22423 · REGENCY CAKESTAND 3 TIER — Rs 23,357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3D"/>
                </a:solidFill>
                <a:latin typeface="Calibri"/>
              </a:rPr>
              <a:t>•  21915 · RED  HARMONICA IN BOX — Rs 13,189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Accuracy &amp; limitations — the honest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1F3D"/>
                </a:solidFill>
                <a:latin typeface="Calibri"/>
              </a:rPr>
              <a:t>•  The model beats the baseline by 37% WAPE — real, but demand is spiky, so treat forecasts as a guided range, not a promise.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1F3D"/>
                </a:solidFill>
                <a:latin typeface="Calibri"/>
              </a:rPr>
              <a:t>•  Forecasts come with an 80% interval; the further out, the wider it gets.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1F3D"/>
                </a:solidFill>
                <a:latin typeface="Calibri"/>
              </a:rPr>
              <a:t>•  Inventory positions in this demo are modelled — plug in NorthBay's real stock table to make the rupee figures exact.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1F3D"/>
                </a:solidFill>
                <a:latin typeface="Calibri"/>
              </a:rPr>
              <a:t>•  New / long-tail SKUs have little history and are flagged low-confidence, not silently forecast.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1F3D"/>
                </a:solidFill>
                <a:latin typeface="Calibri"/>
              </a:rPr>
              <a:t>•  Everything is reproducible and seeded, so the numbers can be re-created and audited.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NorthBay uses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1F3D"/>
                </a:solidFill>
                <a:latin typeface="Calibri"/>
              </a:rPr>
              <a:t>•  Planning dashboard — filter by category/SKU, see forecast vs actual and the prioritised reorder / markdown list. Built for the ops team, no data scientist required.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1F3D"/>
                </a:solidFill>
                <a:latin typeface="Calibri"/>
              </a:rPr>
              <a:t>•  Scoring service (API) — ask for any SKU and get its forecast + risk back; supports single or batch lookups.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F1F3D"/>
                </a:solidFill>
                <a:latin typeface="Calibri"/>
              </a:rPr>
              <a:t>•  Monthly refresh — one command re-runs the whole pipeline on the latest extract.</a:t>
            </a:r>
          </a:p>
          <a:p>
            <a:pPr algn="ctr">
              <a:spcAft>
                <a:spcPts val="2400"/>
              </a:spcAft>
            </a:pPr>
            <a:r>
              <a:rPr sz="1600" b="1">
                <a:solidFill>
                  <a:srgbClr val="6B6BD6"/>
                </a:solidFill>
                <a:latin typeface="Calibri"/>
              </a:rPr>
              <a:t>Deliver it like a consultant. Defend it like a scientist.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